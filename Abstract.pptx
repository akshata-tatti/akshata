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60" r:id="rId5"/>
    <p:sldId id="259"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8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ta Tatti" userId="1c9c25298d627568" providerId="LiveId" clId="{C1246603-507F-4869-805B-FD4861FB60AD}"/>
    <pc:docChg chg="modSld">
      <pc:chgData name="Akshata Tatti" userId="1c9c25298d627568" providerId="LiveId" clId="{C1246603-507F-4869-805B-FD4861FB60AD}" dt="2025-11-22T11:53:17.809" v="1" actId="20577"/>
      <pc:docMkLst>
        <pc:docMk/>
      </pc:docMkLst>
      <pc:sldChg chg="modSp mod">
        <pc:chgData name="Akshata Tatti" userId="1c9c25298d627568" providerId="LiveId" clId="{C1246603-507F-4869-805B-FD4861FB60AD}" dt="2025-11-22T11:53:17.809" v="1" actId="20577"/>
        <pc:sldMkLst>
          <pc:docMk/>
          <pc:sldMk cId="760433716" sldId="256"/>
        </pc:sldMkLst>
        <pc:spChg chg="mod">
          <ac:chgData name="Akshata Tatti" userId="1c9c25298d627568" providerId="LiveId" clId="{C1246603-507F-4869-805B-FD4861FB60AD}" dt="2025-11-22T11:53:17.809" v="1" actId="20577"/>
          <ac:spMkLst>
            <pc:docMk/>
            <pc:sldMk cId="760433716" sldId="256"/>
            <ac:spMk id="3" creationId="{BC73BA3A-8161-7800-DEB2-2E7128048FD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3CE6F-2F86-4B56-9248-2B4536A12D99}" type="datetimeFigureOut">
              <a:rPr lang="en-IN" smtClean="0"/>
              <a:t>22-11-2025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F33BAC-9534-4A7F-900F-FA1F33DA76D2}" type="slidenum">
              <a:rPr lang="en-IN" smtClean="0"/>
              <a:t>‹#›</a:t>
            </a:fld>
            <a:endParaRPr lang="en-IN"/>
          </a:p>
        </p:txBody>
      </p:sp>
    </p:spTree>
    <p:extLst>
      <p:ext uri="{BB962C8B-B14F-4D97-AF65-F5344CB8AC3E}">
        <p14:creationId xmlns:p14="http://schemas.microsoft.com/office/powerpoint/2010/main" val="3236311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9D55D-2A33-D493-EC4C-C76E28350DF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0507DF22-ABB2-4880-6BC4-A45D265455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F465C1E4-E3CA-EDC8-11B1-C8B135BF4A02}"/>
              </a:ext>
            </a:extLst>
          </p:cNvPr>
          <p:cNvSpPr>
            <a:spLocks noGrp="1"/>
          </p:cNvSpPr>
          <p:nvPr>
            <p:ph type="dt" sz="half" idx="10"/>
          </p:nvPr>
        </p:nvSpPr>
        <p:spPr/>
        <p:txBody>
          <a:bodyPr/>
          <a:lstStyle/>
          <a:p>
            <a:fld id="{BB49E5F9-8DE0-47FD-B021-EA36485638A9}" type="datetimeFigureOut">
              <a:rPr lang="en-IN" smtClean="0"/>
              <a:t>22-11-2025</a:t>
            </a:fld>
            <a:endParaRPr lang="en-IN"/>
          </a:p>
        </p:txBody>
      </p:sp>
      <p:sp>
        <p:nvSpPr>
          <p:cNvPr id="5" name="Footer Placeholder 4">
            <a:extLst>
              <a:ext uri="{FF2B5EF4-FFF2-40B4-BE49-F238E27FC236}">
                <a16:creationId xmlns:a16="http://schemas.microsoft.com/office/drawing/2014/main" id="{1B7C7E7E-3B46-E659-2AAE-3497935997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204BEF-D176-FEB8-945D-07A4529899C2}"/>
              </a:ext>
            </a:extLst>
          </p:cNvPr>
          <p:cNvSpPr>
            <a:spLocks noGrp="1"/>
          </p:cNvSpPr>
          <p:nvPr>
            <p:ph type="sldNum" sz="quarter" idx="12"/>
          </p:nvPr>
        </p:nvSpPr>
        <p:spPr/>
        <p:txBody>
          <a:bodyPr/>
          <a:lstStyle/>
          <a:p>
            <a:fld id="{4962260E-5D82-418A-9FD6-BD52FE6F6B31}" type="slidenum">
              <a:rPr lang="en-IN" smtClean="0"/>
              <a:t>‹#›</a:t>
            </a:fld>
            <a:endParaRPr lang="en-IN"/>
          </a:p>
        </p:txBody>
      </p:sp>
    </p:spTree>
    <p:extLst>
      <p:ext uri="{BB962C8B-B14F-4D97-AF65-F5344CB8AC3E}">
        <p14:creationId xmlns:p14="http://schemas.microsoft.com/office/powerpoint/2010/main" val="2966705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33964-6DC4-CB3B-0A66-7864F5FFEB2A}"/>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49E4D470-DE26-8FCD-3828-6B082BD0026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3D4DCBD-14FA-EB93-E39F-1ADB25CE9A12}"/>
              </a:ext>
            </a:extLst>
          </p:cNvPr>
          <p:cNvSpPr>
            <a:spLocks noGrp="1"/>
          </p:cNvSpPr>
          <p:nvPr>
            <p:ph type="dt" sz="half" idx="10"/>
          </p:nvPr>
        </p:nvSpPr>
        <p:spPr/>
        <p:txBody>
          <a:bodyPr/>
          <a:lstStyle/>
          <a:p>
            <a:fld id="{BB49E5F9-8DE0-47FD-B021-EA36485638A9}" type="datetimeFigureOut">
              <a:rPr lang="en-IN" smtClean="0"/>
              <a:t>22-11-2025</a:t>
            </a:fld>
            <a:endParaRPr lang="en-IN"/>
          </a:p>
        </p:txBody>
      </p:sp>
      <p:sp>
        <p:nvSpPr>
          <p:cNvPr id="5" name="Footer Placeholder 4">
            <a:extLst>
              <a:ext uri="{FF2B5EF4-FFF2-40B4-BE49-F238E27FC236}">
                <a16:creationId xmlns:a16="http://schemas.microsoft.com/office/drawing/2014/main" id="{173D4149-1311-B1E7-557A-0592AAE182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09033D-1D1B-22D2-9A93-EF52BD302C1F}"/>
              </a:ext>
            </a:extLst>
          </p:cNvPr>
          <p:cNvSpPr>
            <a:spLocks noGrp="1"/>
          </p:cNvSpPr>
          <p:nvPr>
            <p:ph type="sldNum" sz="quarter" idx="12"/>
          </p:nvPr>
        </p:nvSpPr>
        <p:spPr/>
        <p:txBody>
          <a:bodyPr/>
          <a:lstStyle/>
          <a:p>
            <a:fld id="{4962260E-5D82-418A-9FD6-BD52FE6F6B31}" type="slidenum">
              <a:rPr lang="en-IN" smtClean="0"/>
              <a:t>‹#›</a:t>
            </a:fld>
            <a:endParaRPr lang="en-IN"/>
          </a:p>
        </p:txBody>
      </p:sp>
    </p:spTree>
    <p:extLst>
      <p:ext uri="{BB962C8B-B14F-4D97-AF65-F5344CB8AC3E}">
        <p14:creationId xmlns:p14="http://schemas.microsoft.com/office/powerpoint/2010/main" val="2208036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CFF1A-B936-EAB3-CD03-798F1815217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D69C960D-4A86-38BE-C13A-7C61258487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2EE944C-06FA-E362-CAC7-3EACD439455D}"/>
              </a:ext>
            </a:extLst>
          </p:cNvPr>
          <p:cNvSpPr>
            <a:spLocks noGrp="1"/>
          </p:cNvSpPr>
          <p:nvPr>
            <p:ph type="dt" sz="half" idx="10"/>
          </p:nvPr>
        </p:nvSpPr>
        <p:spPr/>
        <p:txBody>
          <a:bodyPr/>
          <a:lstStyle/>
          <a:p>
            <a:fld id="{BB49E5F9-8DE0-47FD-B021-EA36485638A9}" type="datetimeFigureOut">
              <a:rPr lang="en-IN" smtClean="0"/>
              <a:t>22-11-2025</a:t>
            </a:fld>
            <a:endParaRPr lang="en-IN"/>
          </a:p>
        </p:txBody>
      </p:sp>
      <p:sp>
        <p:nvSpPr>
          <p:cNvPr id="5" name="Footer Placeholder 4">
            <a:extLst>
              <a:ext uri="{FF2B5EF4-FFF2-40B4-BE49-F238E27FC236}">
                <a16:creationId xmlns:a16="http://schemas.microsoft.com/office/drawing/2014/main" id="{31A0B11B-A3B5-2BE0-BB84-977842C68C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EC70C1-6427-A4F1-0CC1-C936EA2E194A}"/>
              </a:ext>
            </a:extLst>
          </p:cNvPr>
          <p:cNvSpPr>
            <a:spLocks noGrp="1"/>
          </p:cNvSpPr>
          <p:nvPr>
            <p:ph type="sldNum" sz="quarter" idx="12"/>
          </p:nvPr>
        </p:nvSpPr>
        <p:spPr/>
        <p:txBody>
          <a:bodyPr/>
          <a:lstStyle/>
          <a:p>
            <a:fld id="{4962260E-5D82-418A-9FD6-BD52FE6F6B31}" type="slidenum">
              <a:rPr lang="en-IN" smtClean="0"/>
              <a:t>‹#›</a:t>
            </a:fld>
            <a:endParaRPr lang="en-IN"/>
          </a:p>
        </p:txBody>
      </p:sp>
    </p:spTree>
    <p:extLst>
      <p:ext uri="{BB962C8B-B14F-4D97-AF65-F5344CB8AC3E}">
        <p14:creationId xmlns:p14="http://schemas.microsoft.com/office/powerpoint/2010/main" val="2010353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3BD04-D476-C909-148C-5B0173B68260}"/>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BBE057DC-DD70-3479-E6DB-EFEFF6CF8AC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3841FC71-9087-CA92-8EAB-6F0C4304535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31261302-71FC-8A97-7E9D-42E4EB6A0667}"/>
              </a:ext>
            </a:extLst>
          </p:cNvPr>
          <p:cNvSpPr>
            <a:spLocks noGrp="1"/>
          </p:cNvSpPr>
          <p:nvPr>
            <p:ph type="dt" sz="half" idx="10"/>
          </p:nvPr>
        </p:nvSpPr>
        <p:spPr/>
        <p:txBody>
          <a:bodyPr/>
          <a:lstStyle/>
          <a:p>
            <a:fld id="{BB49E5F9-8DE0-47FD-B021-EA36485638A9}" type="datetimeFigureOut">
              <a:rPr lang="en-IN" smtClean="0"/>
              <a:t>22-11-2025</a:t>
            </a:fld>
            <a:endParaRPr lang="en-IN"/>
          </a:p>
        </p:txBody>
      </p:sp>
      <p:sp>
        <p:nvSpPr>
          <p:cNvPr id="6" name="Footer Placeholder 5">
            <a:extLst>
              <a:ext uri="{FF2B5EF4-FFF2-40B4-BE49-F238E27FC236}">
                <a16:creationId xmlns:a16="http://schemas.microsoft.com/office/drawing/2014/main" id="{CFD4D5E1-8378-FC78-4C4D-5E8D2D634A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DA3347-E54B-50D4-F73E-9BF48C6F82F8}"/>
              </a:ext>
            </a:extLst>
          </p:cNvPr>
          <p:cNvSpPr>
            <a:spLocks noGrp="1"/>
          </p:cNvSpPr>
          <p:nvPr>
            <p:ph type="sldNum" sz="quarter" idx="12"/>
          </p:nvPr>
        </p:nvSpPr>
        <p:spPr/>
        <p:txBody>
          <a:bodyPr/>
          <a:lstStyle/>
          <a:p>
            <a:fld id="{4962260E-5D82-418A-9FD6-BD52FE6F6B31}" type="slidenum">
              <a:rPr lang="en-IN" smtClean="0"/>
              <a:t>‹#›</a:t>
            </a:fld>
            <a:endParaRPr lang="en-IN"/>
          </a:p>
        </p:txBody>
      </p:sp>
    </p:spTree>
    <p:extLst>
      <p:ext uri="{BB962C8B-B14F-4D97-AF65-F5344CB8AC3E}">
        <p14:creationId xmlns:p14="http://schemas.microsoft.com/office/powerpoint/2010/main" val="1516217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DD09D-A987-8437-87EB-307AB627C60A}"/>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7CB8A503-BA16-1062-F699-FF1306E01E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C56AB19-CD8D-AC70-5930-BD3D75AFD94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DF80665A-6DAB-F5B6-F7E8-5A51F137FF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FC04F65-CF7D-E170-4082-AC6686F9FB3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D233E8BB-5C2B-948D-4242-5B67EC6430F2}"/>
              </a:ext>
            </a:extLst>
          </p:cNvPr>
          <p:cNvSpPr>
            <a:spLocks noGrp="1"/>
          </p:cNvSpPr>
          <p:nvPr>
            <p:ph type="dt" sz="half" idx="10"/>
          </p:nvPr>
        </p:nvSpPr>
        <p:spPr/>
        <p:txBody>
          <a:bodyPr/>
          <a:lstStyle/>
          <a:p>
            <a:fld id="{BB49E5F9-8DE0-47FD-B021-EA36485638A9}" type="datetimeFigureOut">
              <a:rPr lang="en-IN" smtClean="0"/>
              <a:t>22-11-2025</a:t>
            </a:fld>
            <a:endParaRPr lang="en-IN"/>
          </a:p>
        </p:txBody>
      </p:sp>
      <p:sp>
        <p:nvSpPr>
          <p:cNvPr id="8" name="Footer Placeholder 7">
            <a:extLst>
              <a:ext uri="{FF2B5EF4-FFF2-40B4-BE49-F238E27FC236}">
                <a16:creationId xmlns:a16="http://schemas.microsoft.com/office/drawing/2014/main" id="{ACAAE989-FE2B-C9BE-1E1B-6E9CF2C0EC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50E90D8-99ED-718C-4FD1-5CEC926EFE85}"/>
              </a:ext>
            </a:extLst>
          </p:cNvPr>
          <p:cNvSpPr>
            <a:spLocks noGrp="1"/>
          </p:cNvSpPr>
          <p:nvPr>
            <p:ph type="sldNum" sz="quarter" idx="12"/>
          </p:nvPr>
        </p:nvSpPr>
        <p:spPr/>
        <p:txBody>
          <a:bodyPr/>
          <a:lstStyle/>
          <a:p>
            <a:fld id="{4962260E-5D82-418A-9FD6-BD52FE6F6B31}" type="slidenum">
              <a:rPr lang="en-IN" smtClean="0"/>
              <a:t>‹#›</a:t>
            </a:fld>
            <a:endParaRPr lang="en-IN"/>
          </a:p>
        </p:txBody>
      </p:sp>
    </p:spTree>
    <p:extLst>
      <p:ext uri="{BB962C8B-B14F-4D97-AF65-F5344CB8AC3E}">
        <p14:creationId xmlns:p14="http://schemas.microsoft.com/office/powerpoint/2010/main" val="2987285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284EC-2561-85BA-A917-987AEE33A237}"/>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509692BF-2BCD-75F8-85FD-C4860381381B}"/>
              </a:ext>
            </a:extLst>
          </p:cNvPr>
          <p:cNvSpPr>
            <a:spLocks noGrp="1"/>
          </p:cNvSpPr>
          <p:nvPr>
            <p:ph type="dt" sz="half" idx="10"/>
          </p:nvPr>
        </p:nvSpPr>
        <p:spPr/>
        <p:txBody>
          <a:bodyPr/>
          <a:lstStyle/>
          <a:p>
            <a:fld id="{BB49E5F9-8DE0-47FD-B021-EA36485638A9}" type="datetimeFigureOut">
              <a:rPr lang="en-IN" smtClean="0"/>
              <a:t>22-11-2025</a:t>
            </a:fld>
            <a:endParaRPr lang="en-IN"/>
          </a:p>
        </p:txBody>
      </p:sp>
      <p:sp>
        <p:nvSpPr>
          <p:cNvPr id="4" name="Footer Placeholder 3">
            <a:extLst>
              <a:ext uri="{FF2B5EF4-FFF2-40B4-BE49-F238E27FC236}">
                <a16:creationId xmlns:a16="http://schemas.microsoft.com/office/drawing/2014/main" id="{AE0986B2-BF1F-3E7B-0138-D74B3D1134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71FB097-75C0-F487-80F2-7F6B0F4F17CE}"/>
              </a:ext>
            </a:extLst>
          </p:cNvPr>
          <p:cNvSpPr>
            <a:spLocks noGrp="1"/>
          </p:cNvSpPr>
          <p:nvPr>
            <p:ph type="sldNum" sz="quarter" idx="12"/>
          </p:nvPr>
        </p:nvSpPr>
        <p:spPr/>
        <p:txBody>
          <a:bodyPr/>
          <a:lstStyle/>
          <a:p>
            <a:fld id="{4962260E-5D82-418A-9FD6-BD52FE6F6B31}" type="slidenum">
              <a:rPr lang="en-IN" smtClean="0"/>
              <a:t>‹#›</a:t>
            </a:fld>
            <a:endParaRPr lang="en-IN"/>
          </a:p>
        </p:txBody>
      </p:sp>
    </p:spTree>
    <p:extLst>
      <p:ext uri="{BB962C8B-B14F-4D97-AF65-F5344CB8AC3E}">
        <p14:creationId xmlns:p14="http://schemas.microsoft.com/office/powerpoint/2010/main" val="2780362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38382B-B4EB-0F20-2D17-ADD11E3D1B1D}"/>
              </a:ext>
            </a:extLst>
          </p:cNvPr>
          <p:cNvSpPr>
            <a:spLocks noGrp="1"/>
          </p:cNvSpPr>
          <p:nvPr>
            <p:ph type="dt" sz="half" idx="10"/>
          </p:nvPr>
        </p:nvSpPr>
        <p:spPr/>
        <p:txBody>
          <a:bodyPr/>
          <a:lstStyle/>
          <a:p>
            <a:fld id="{BB49E5F9-8DE0-47FD-B021-EA36485638A9}" type="datetimeFigureOut">
              <a:rPr lang="en-IN" smtClean="0"/>
              <a:t>22-11-2025</a:t>
            </a:fld>
            <a:endParaRPr lang="en-IN"/>
          </a:p>
        </p:txBody>
      </p:sp>
      <p:sp>
        <p:nvSpPr>
          <p:cNvPr id="3" name="Footer Placeholder 2">
            <a:extLst>
              <a:ext uri="{FF2B5EF4-FFF2-40B4-BE49-F238E27FC236}">
                <a16:creationId xmlns:a16="http://schemas.microsoft.com/office/drawing/2014/main" id="{CA8CA551-0041-CF4B-82F4-641FF55574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561F46E-3C59-D0EC-FF92-4F7BEFC74722}"/>
              </a:ext>
            </a:extLst>
          </p:cNvPr>
          <p:cNvSpPr>
            <a:spLocks noGrp="1"/>
          </p:cNvSpPr>
          <p:nvPr>
            <p:ph type="sldNum" sz="quarter" idx="12"/>
          </p:nvPr>
        </p:nvSpPr>
        <p:spPr/>
        <p:txBody>
          <a:bodyPr/>
          <a:lstStyle/>
          <a:p>
            <a:fld id="{4962260E-5D82-418A-9FD6-BD52FE6F6B31}" type="slidenum">
              <a:rPr lang="en-IN" smtClean="0"/>
              <a:t>‹#›</a:t>
            </a:fld>
            <a:endParaRPr lang="en-IN"/>
          </a:p>
        </p:txBody>
      </p:sp>
    </p:spTree>
    <p:extLst>
      <p:ext uri="{BB962C8B-B14F-4D97-AF65-F5344CB8AC3E}">
        <p14:creationId xmlns:p14="http://schemas.microsoft.com/office/powerpoint/2010/main" val="2726305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26F1-D4C4-8AD7-5B29-B080E471D1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3F7CBE82-6101-AC6C-A735-9AB4668604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E585072A-750C-3A7A-CF52-6CD788EA18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B513949-3571-8C70-4046-0827F1FBF2FA}"/>
              </a:ext>
            </a:extLst>
          </p:cNvPr>
          <p:cNvSpPr>
            <a:spLocks noGrp="1"/>
          </p:cNvSpPr>
          <p:nvPr>
            <p:ph type="dt" sz="half" idx="10"/>
          </p:nvPr>
        </p:nvSpPr>
        <p:spPr/>
        <p:txBody>
          <a:bodyPr/>
          <a:lstStyle/>
          <a:p>
            <a:fld id="{BB49E5F9-8DE0-47FD-B021-EA36485638A9}" type="datetimeFigureOut">
              <a:rPr lang="en-IN" smtClean="0"/>
              <a:t>22-11-2025</a:t>
            </a:fld>
            <a:endParaRPr lang="en-IN"/>
          </a:p>
        </p:txBody>
      </p:sp>
      <p:sp>
        <p:nvSpPr>
          <p:cNvPr id="6" name="Footer Placeholder 5">
            <a:extLst>
              <a:ext uri="{FF2B5EF4-FFF2-40B4-BE49-F238E27FC236}">
                <a16:creationId xmlns:a16="http://schemas.microsoft.com/office/drawing/2014/main" id="{222CE004-16A2-8503-E098-BB2326EAF0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C34C9C-05B0-0B61-4A85-0314919E7367}"/>
              </a:ext>
            </a:extLst>
          </p:cNvPr>
          <p:cNvSpPr>
            <a:spLocks noGrp="1"/>
          </p:cNvSpPr>
          <p:nvPr>
            <p:ph type="sldNum" sz="quarter" idx="12"/>
          </p:nvPr>
        </p:nvSpPr>
        <p:spPr/>
        <p:txBody>
          <a:bodyPr/>
          <a:lstStyle/>
          <a:p>
            <a:fld id="{4962260E-5D82-418A-9FD6-BD52FE6F6B31}" type="slidenum">
              <a:rPr lang="en-IN" smtClean="0"/>
              <a:t>‹#›</a:t>
            </a:fld>
            <a:endParaRPr lang="en-IN"/>
          </a:p>
        </p:txBody>
      </p:sp>
    </p:spTree>
    <p:extLst>
      <p:ext uri="{BB962C8B-B14F-4D97-AF65-F5344CB8AC3E}">
        <p14:creationId xmlns:p14="http://schemas.microsoft.com/office/powerpoint/2010/main" val="4111842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2384-A7E7-5966-2A7E-CD52A6DBCC0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42758ADD-091A-9A62-93E7-445D183CBA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86F14EA-E211-E74B-2142-66260E583B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10C14F3-7189-E853-D8E2-E7A0978341E1}"/>
              </a:ext>
            </a:extLst>
          </p:cNvPr>
          <p:cNvSpPr>
            <a:spLocks noGrp="1"/>
          </p:cNvSpPr>
          <p:nvPr>
            <p:ph type="dt" sz="half" idx="10"/>
          </p:nvPr>
        </p:nvSpPr>
        <p:spPr/>
        <p:txBody>
          <a:bodyPr/>
          <a:lstStyle/>
          <a:p>
            <a:fld id="{BB49E5F9-8DE0-47FD-B021-EA36485638A9}" type="datetimeFigureOut">
              <a:rPr lang="en-IN" smtClean="0"/>
              <a:t>22-11-2025</a:t>
            </a:fld>
            <a:endParaRPr lang="en-IN"/>
          </a:p>
        </p:txBody>
      </p:sp>
      <p:sp>
        <p:nvSpPr>
          <p:cNvPr id="6" name="Footer Placeholder 5">
            <a:extLst>
              <a:ext uri="{FF2B5EF4-FFF2-40B4-BE49-F238E27FC236}">
                <a16:creationId xmlns:a16="http://schemas.microsoft.com/office/drawing/2014/main" id="{E928A042-66B7-2B3D-921C-84B2AEE614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D6D81D-EC26-F8E4-A45C-FC728C5A26B2}"/>
              </a:ext>
            </a:extLst>
          </p:cNvPr>
          <p:cNvSpPr>
            <a:spLocks noGrp="1"/>
          </p:cNvSpPr>
          <p:nvPr>
            <p:ph type="sldNum" sz="quarter" idx="12"/>
          </p:nvPr>
        </p:nvSpPr>
        <p:spPr/>
        <p:txBody>
          <a:bodyPr/>
          <a:lstStyle/>
          <a:p>
            <a:fld id="{4962260E-5D82-418A-9FD6-BD52FE6F6B31}" type="slidenum">
              <a:rPr lang="en-IN" smtClean="0"/>
              <a:t>‹#›</a:t>
            </a:fld>
            <a:endParaRPr lang="en-IN"/>
          </a:p>
        </p:txBody>
      </p:sp>
    </p:spTree>
    <p:extLst>
      <p:ext uri="{BB962C8B-B14F-4D97-AF65-F5344CB8AC3E}">
        <p14:creationId xmlns:p14="http://schemas.microsoft.com/office/powerpoint/2010/main" val="1246608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A88F1-A87F-9CE1-A9A8-0D2BF5C4BC30}"/>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034B1B50-A4BC-0FD0-AFF9-DC765B9987B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B196D5D-A3A8-3AE1-EBC3-B9D2716ED9B1}"/>
              </a:ext>
            </a:extLst>
          </p:cNvPr>
          <p:cNvSpPr>
            <a:spLocks noGrp="1"/>
          </p:cNvSpPr>
          <p:nvPr>
            <p:ph type="dt" sz="half" idx="10"/>
          </p:nvPr>
        </p:nvSpPr>
        <p:spPr/>
        <p:txBody>
          <a:bodyPr/>
          <a:lstStyle/>
          <a:p>
            <a:fld id="{BB49E5F9-8DE0-47FD-B021-EA36485638A9}" type="datetimeFigureOut">
              <a:rPr lang="en-IN" smtClean="0"/>
              <a:t>22-11-2025</a:t>
            </a:fld>
            <a:endParaRPr lang="en-IN"/>
          </a:p>
        </p:txBody>
      </p:sp>
      <p:sp>
        <p:nvSpPr>
          <p:cNvPr id="5" name="Footer Placeholder 4">
            <a:extLst>
              <a:ext uri="{FF2B5EF4-FFF2-40B4-BE49-F238E27FC236}">
                <a16:creationId xmlns:a16="http://schemas.microsoft.com/office/drawing/2014/main" id="{00A2CE99-4E99-7FEF-DB03-A48068D98F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F957D1-A475-C8E3-A257-FF43F20CA8CA}"/>
              </a:ext>
            </a:extLst>
          </p:cNvPr>
          <p:cNvSpPr>
            <a:spLocks noGrp="1"/>
          </p:cNvSpPr>
          <p:nvPr>
            <p:ph type="sldNum" sz="quarter" idx="12"/>
          </p:nvPr>
        </p:nvSpPr>
        <p:spPr/>
        <p:txBody>
          <a:bodyPr/>
          <a:lstStyle/>
          <a:p>
            <a:fld id="{4962260E-5D82-418A-9FD6-BD52FE6F6B31}" type="slidenum">
              <a:rPr lang="en-IN" smtClean="0"/>
              <a:t>‹#›</a:t>
            </a:fld>
            <a:endParaRPr lang="en-IN"/>
          </a:p>
        </p:txBody>
      </p:sp>
    </p:spTree>
    <p:extLst>
      <p:ext uri="{BB962C8B-B14F-4D97-AF65-F5344CB8AC3E}">
        <p14:creationId xmlns:p14="http://schemas.microsoft.com/office/powerpoint/2010/main" val="2059982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B121ED-B271-9BAE-6135-782B5B10CC9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623BC4CF-2285-A969-AD09-A387326BC08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50D65CE-6B6D-BC2C-5CD3-018CA1BB4F8C}"/>
              </a:ext>
            </a:extLst>
          </p:cNvPr>
          <p:cNvSpPr>
            <a:spLocks noGrp="1"/>
          </p:cNvSpPr>
          <p:nvPr>
            <p:ph type="dt" sz="half" idx="10"/>
          </p:nvPr>
        </p:nvSpPr>
        <p:spPr/>
        <p:txBody>
          <a:bodyPr/>
          <a:lstStyle/>
          <a:p>
            <a:fld id="{BB49E5F9-8DE0-47FD-B021-EA36485638A9}" type="datetimeFigureOut">
              <a:rPr lang="en-IN" smtClean="0"/>
              <a:t>22-11-2025</a:t>
            </a:fld>
            <a:endParaRPr lang="en-IN"/>
          </a:p>
        </p:txBody>
      </p:sp>
      <p:sp>
        <p:nvSpPr>
          <p:cNvPr id="5" name="Footer Placeholder 4">
            <a:extLst>
              <a:ext uri="{FF2B5EF4-FFF2-40B4-BE49-F238E27FC236}">
                <a16:creationId xmlns:a16="http://schemas.microsoft.com/office/drawing/2014/main" id="{22B26B96-6D16-62C0-1B3F-37A65ABC65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CDAF50-CA0F-24C4-70CA-C2CFDBE00E96}"/>
              </a:ext>
            </a:extLst>
          </p:cNvPr>
          <p:cNvSpPr>
            <a:spLocks noGrp="1"/>
          </p:cNvSpPr>
          <p:nvPr>
            <p:ph type="sldNum" sz="quarter" idx="12"/>
          </p:nvPr>
        </p:nvSpPr>
        <p:spPr/>
        <p:txBody>
          <a:bodyPr/>
          <a:lstStyle/>
          <a:p>
            <a:fld id="{4962260E-5D82-418A-9FD6-BD52FE6F6B31}" type="slidenum">
              <a:rPr lang="en-IN" smtClean="0"/>
              <a:t>‹#›</a:t>
            </a:fld>
            <a:endParaRPr lang="en-IN"/>
          </a:p>
        </p:txBody>
      </p:sp>
    </p:spTree>
    <p:extLst>
      <p:ext uri="{BB962C8B-B14F-4D97-AF65-F5344CB8AC3E}">
        <p14:creationId xmlns:p14="http://schemas.microsoft.com/office/powerpoint/2010/main" val="1390917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15A89-C1F9-9AD4-BBA7-09CA87B72B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D07CB6AC-4DCA-1492-97C2-78C008477E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F3BBC06A-AA18-ACC9-80D5-9F361C338E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49E5F9-8DE0-47FD-B021-EA36485638A9}" type="datetimeFigureOut">
              <a:rPr lang="en-IN" smtClean="0"/>
              <a:t>22-11-2025</a:t>
            </a:fld>
            <a:endParaRPr lang="en-IN"/>
          </a:p>
        </p:txBody>
      </p:sp>
      <p:sp>
        <p:nvSpPr>
          <p:cNvPr id="5" name="Footer Placeholder 4">
            <a:extLst>
              <a:ext uri="{FF2B5EF4-FFF2-40B4-BE49-F238E27FC236}">
                <a16:creationId xmlns:a16="http://schemas.microsoft.com/office/drawing/2014/main" id="{307E5947-C534-3708-E578-C8987A89BE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DEB2ED1-60D9-1644-3C87-05586CCC65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62260E-5D82-418A-9FD6-BD52FE6F6B31}" type="slidenum">
              <a:rPr lang="en-IN" smtClean="0"/>
              <a:t>‹#›</a:t>
            </a:fld>
            <a:endParaRPr lang="en-IN"/>
          </a:p>
        </p:txBody>
      </p:sp>
    </p:spTree>
    <p:extLst>
      <p:ext uri="{BB962C8B-B14F-4D97-AF65-F5344CB8AC3E}">
        <p14:creationId xmlns:p14="http://schemas.microsoft.com/office/powerpoint/2010/main" val="3889794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90626-E84C-7D10-84C8-52692C334C3E}"/>
              </a:ext>
            </a:extLst>
          </p:cNvPr>
          <p:cNvSpPr>
            <a:spLocks noGrp="1"/>
          </p:cNvSpPr>
          <p:nvPr>
            <p:ph type="ctrTitle"/>
          </p:nvPr>
        </p:nvSpPr>
        <p:spPr>
          <a:xfrm>
            <a:off x="0" y="426721"/>
            <a:ext cx="3627120" cy="685800"/>
          </a:xfrm>
        </p:spPr>
        <p:txBody>
          <a:bodyPr>
            <a:normAutofit fontScale="90000"/>
          </a:bodyPr>
          <a:lstStyle/>
          <a:p>
            <a:r>
              <a:rPr lang="en-IN">
                <a:latin typeface="Times New Roman" panose="02020603050405020304" pitchFamily="18" charset="0"/>
                <a:cs typeface="Times New Roman" panose="02020603050405020304" pitchFamily="18" charset="0"/>
              </a:rPr>
              <a:t>Abstract</a:t>
            </a:r>
          </a:p>
        </p:txBody>
      </p:sp>
      <p:sp>
        <p:nvSpPr>
          <p:cNvPr id="3" name="Subtitle 2">
            <a:extLst>
              <a:ext uri="{FF2B5EF4-FFF2-40B4-BE49-F238E27FC236}">
                <a16:creationId xmlns:a16="http://schemas.microsoft.com/office/drawing/2014/main" id="{BC73BA3A-8161-7800-DEB2-2E7128048FD9}"/>
              </a:ext>
            </a:extLst>
          </p:cNvPr>
          <p:cNvSpPr>
            <a:spLocks noGrp="1"/>
          </p:cNvSpPr>
          <p:nvPr>
            <p:ph type="subTitle" idx="1"/>
          </p:nvPr>
        </p:nvSpPr>
        <p:spPr>
          <a:xfrm>
            <a:off x="883920" y="1584960"/>
            <a:ext cx="9784080" cy="4358640"/>
          </a:xfrm>
        </p:spPr>
        <p:txBody>
          <a:bodyPr/>
          <a:lstStyle/>
          <a:p>
            <a:pPr algn="just"/>
            <a:r>
              <a:rPr lang="en-US" dirty="0">
                <a:latin typeface="Times New Roman" panose="02020603050405020304" pitchFamily="18" charset="0"/>
                <a:cs typeface="Times New Roman" panose="02020603050405020304" pitchFamily="18" charset="0"/>
              </a:rPr>
              <a:t>Artificial Intelligence (AI) has rapidly transitioned from a theoretical concept to a critical component of modern digital ecosystems, influencing sectors such as healthcare, finance, governance, and national security. While AI offers transformative advantages—improving efficiency, automating complex tasks, and enabling data-driven decision-making—it simultaneously introduces profound ethical, legal, and cybersecurity risks. This paper presents a comprehensive analysis of the evolving challenges surrounding AI governance, emphasizing the need for transparent, fair, and accountable systems. It examines algorithmic bias, privacy concerns, explainable AI techniques such as LIME and SHAP, and the limitations of current regulatory frameworks including GDPR.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0433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FEA97-9640-032F-A7F0-909A85D16594}"/>
              </a:ext>
            </a:extLst>
          </p:cNvPr>
          <p:cNvSpPr>
            <a:spLocks noGrp="1"/>
          </p:cNvSpPr>
          <p:nvPr>
            <p:ph type="title"/>
          </p:nvPr>
        </p:nvSpPr>
        <p:spPr>
          <a:xfrm>
            <a:off x="426720" y="681037"/>
            <a:ext cx="5257800" cy="282257"/>
          </a:xfrm>
        </p:spPr>
        <p:txBody>
          <a:bodyPr>
            <a:noAutofit/>
          </a:bodyPr>
          <a:lstStyle/>
          <a:p>
            <a:r>
              <a:rPr lang="en-IN">
                <a:latin typeface="Times New Roman" panose="02020603050405020304" pitchFamily="18" charset="0"/>
                <a:cs typeface="Times New Roman" panose="02020603050405020304" pitchFamily="18" charset="0"/>
              </a:rPr>
              <a:t>Introduction</a:t>
            </a:r>
            <a:br>
              <a:rPr lang="en-IN">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8B0E07-52FD-2311-A291-58F296DD6373}"/>
              </a:ext>
            </a:extLst>
          </p:cNvPr>
          <p:cNvSpPr>
            <a:spLocks noGrp="1"/>
          </p:cNvSpPr>
          <p:nvPr>
            <p:ph idx="1"/>
          </p:nvPr>
        </p:nvSpPr>
        <p:spPr>
          <a:xfrm>
            <a:off x="609600" y="1429385"/>
            <a:ext cx="10515600" cy="4351338"/>
          </a:xfrm>
        </p:spPr>
        <p:txBody>
          <a:bodyPr/>
          <a:lstStyle/>
          <a:p>
            <a:pPr marL="0" indent="0" algn="just">
              <a:buNone/>
            </a:pPr>
            <a:r>
              <a:rPr lang="en-US">
                <a:latin typeface="Times New Roman" panose="02020603050405020304" pitchFamily="18" charset="0"/>
                <a:cs typeface="Times New Roman" panose="02020603050405020304" pitchFamily="18" charset="0"/>
              </a:rPr>
              <a:t>Artificial Intelligence (AI) has rapidly evolved from a theoretical idea into a powerful technology that is now deeply embedded in modern society. It is widely used across healthcare, finance, national security, autonomous vehicles, and everyday digital applications. This widespread adoption allows machines to perform tasks traditionally requiring human intelligence, such as decision-making, prediction, and data analysis. While AI offers considerable benefits in terms of efficiency, automation, and the processing of large datasets, its fast-paced growth has introduced serious challenges in areas like ethics, governance, legal regulation, and cybersecurity</a:t>
            </a:r>
            <a:r>
              <a:rPr lang="en-US"/>
              <a:t>.</a:t>
            </a:r>
            <a:endParaRPr lang="en-IN"/>
          </a:p>
        </p:txBody>
      </p:sp>
    </p:spTree>
    <p:extLst>
      <p:ext uri="{BB962C8B-B14F-4D97-AF65-F5344CB8AC3E}">
        <p14:creationId xmlns:p14="http://schemas.microsoft.com/office/powerpoint/2010/main" val="1003799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B82E1-287F-D605-4FDC-3184CB74C839}"/>
              </a:ext>
            </a:extLst>
          </p:cNvPr>
          <p:cNvSpPr>
            <a:spLocks noGrp="1"/>
          </p:cNvSpPr>
          <p:nvPr>
            <p:ph type="title"/>
          </p:nvPr>
        </p:nvSpPr>
        <p:spPr/>
        <p:txBody>
          <a:bodyPr/>
          <a:lstStyle/>
          <a:p>
            <a:r>
              <a:rPr lang="en-IN"/>
              <a:t>Problem Statement</a:t>
            </a:r>
          </a:p>
        </p:txBody>
      </p:sp>
      <p:sp>
        <p:nvSpPr>
          <p:cNvPr id="3" name="Content Placeholder 2">
            <a:extLst>
              <a:ext uri="{FF2B5EF4-FFF2-40B4-BE49-F238E27FC236}">
                <a16:creationId xmlns:a16="http://schemas.microsoft.com/office/drawing/2014/main" id="{43D5DBD1-D1AF-5100-8E9B-E76C7D7A869C}"/>
              </a:ext>
            </a:extLst>
          </p:cNvPr>
          <p:cNvSpPr>
            <a:spLocks noGrp="1"/>
          </p:cNvSpPr>
          <p:nvPr>
            <p:ph idx="1"/>
          </p:nvPr>
        </p:nvSpPr>
        <p:spPr/>
        <p:txBody>
          <a:bodyPr>
            <a:noAutofit/>
          </a:bodyPr>
          <a:lstStyle/>
          <a:p>
            <a:pPr marL="0" indent="0" algn="just">
              <a:buNone/>
            </a:pPr>
            <a:r>
              <a:rPr lang="en-US" sz="2400">
                <a:latin typeface="Times New Roman" panose="02020603050405020304" pitchFamily="18" charset="0"/>
                <a:cs typeface="Times New Roman" panose="02020603050405020304" pitchFamily="18" charset="0"/>
              </a:rPr>
              <a:t>The rapid expansion of Artificial Intelligence (AI) into essential domains such as healthcare, finance, and national security has created challenges that existing ethical, legal, and cybersecurity frameworks are unable to manage effectively. Modern AI systems are autonomous, opaque, and highly complex, leading to risks such as algorithmic bias, lack of transparency, unclear accountability, and privacy violations. At the same time, AI-powered cyber threats—like polymorphic malware, deepfake impersonation, and automated phishing—are advancing faster than traditional defenses can respond. This widening gap between AI’s technological growth and the slower pace of governance and security adaptation highlights a critical need for robust, adaptive, and internationally aligned frameworks to ensure safe, fair, and secure AI deployment across all sectors.</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010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D4DD8-24A9-A74B-6E86-28F0B7E4E7FB}"/>
              </a:ext>
            </a:extLst>
          </p:cNvPr>
          <p:cNvSpPr>
            <a:spLocks noGrp="1"/>
          </p:cNvSpPr>
          <p:nvPr>
            <p:ph type="title"/>
          </p:nvPr>
        </p:nvSpPr>
        <p:spPr>
          <a:xfrm>
            <a:off x="533400" y="0"/>
            <a:ext cx="4206240" cy="1325563"/>
          </a:xfrm>
        </p:spPr>
        <p:txBody>
          <a:bodyPr/>
          <a:lstStyle/>
          <a:p>
            <a:r>
              <a:rPr lang="en-IN">
                <a:latin typeface="Times New Roman" panose="02020603050405020304" pitchFamily="18" charset="0"/>
                <a:cs typeface="Times New Roman" panose="02020603050405020304" pitchFamily="18" charset="0"/>
              </a:rPr>
              <a:t>Literature Survey</a:t>
            </a:r>
          </a:p>
        </p:txBody>
      </p:sp>
      <p:pic>
        <p:nvPicPr>
          <p:cNvPr id="9" name="Content Placeholder 8">
            <a:extLst>
              <a:ext uri="{FF2B5EF4-FFF2-40B4-BE49-F238E27FC236}">
                <a16:creationId xmlns:a16="http://schemas.microsoft.com/office/drawing/2014/main" id="{2836EFB8-0D0D-1309-065E-0003E410C3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60" y="1462088"/>
            <a:ext cx="11810999" cy="5259387"/>
          </a:xfrm>
        </p:spPr>
      </p:pic>
    </p:spTree>
    <p:extLst>
      <p:ext uri="{BB962C8B-B14F-4D97-AF65-F5344CB8AC3E}">
        <p14:creationId xmlns:p14="http://schemas.microsoft.com/office/powerpoint/2010/main" val="4258428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1729A-80E2-E68D-7602-2A0C9F77268C}"/>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Objectives</a:t>
            </a:r>
          </a:p>
        </p:txBody>
      </p:sp>
      <p:sp>
        <p:nvSpPr>
          <p:cNvPr id="5" name="Rectangle 2">
            <a:extLst>
              <a:ext uri="{FF2B5EF4-FFF2-40B4-BE49-F238E27FC236}">
                <a16:creationId xmlns:a16="http://schemas.microsoft.com/office/drawing/2014/main" id="{36677BC9-4EE8-2E7A-F7D1-D215271FCF35}"/>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identify key ethical issues in AI such as bias, transparency, and accountability.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review major AI governance frameworks and their effectiveness.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understand the need for Explainable AI using LIME and SHAP.</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analyze legal challenges including liability and IP concerns.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study AI-based cyber threats like deepfakes and polymorphic malware.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examine AI-powered cybersecurity defenses.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highlight the need for strong and adaptive global AI governance.</a:t>
            </a:r>
          </a:p>
        </p:txBody>
      </p:sp>
    </p:spTree>
    <p:extLst>
      <p:ext uri="{BB962C8B-B14F-4D97-AF65-F5344CB8AC3E}">
        <p14:creationId xmlns:p14="http://schemas.microsoft.com/office/powerpoint/2010/main" val="752093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13705-F1DD-427A-8C8A-20440AF0717B}"/>
              </a:ext>
            </a:extLst>
          </p:cNvPr>
          <p:cNvSpPr>
            <a:spLocks noGrp="1"/>
          </p:cNvSpPr>
          <p:nvPr>
            <p:ph type="title"/>
          </p:nvPr>
        </p:nvSpPr>
        <p:spPr>
          <a:xfrm>
            <a:off x="106680" y="-290195"/>
            <a:ext cx="5882640" cy="1325563"/>
          </a:xfrm>
        </p:spPr>
        <p:txBody>
          <a:bodyPr/>
          <a:lstStyle/>
          <a:p>
            <a:r>
              <a:rPr lang="en-IN">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11C9FA01-9FFE-4164-E0A2-DA4A9B0DE0EE}"/>
              </a:ext>
            </a:extLst>
          </p:cNvPr>
          <p:cNvSpPr>
            <a:spLocks noGrp="1"/>
          </p:cNvSpPr>
          <p:nvPr>
            <p:ph idx="1"/>
          </p:nvPr>
        </p:nvSpPr>
        <p:spPr>
          <a:xfrm>
            <a:off x="342902" y="1035368"/>
            <a:ext cx="11719560" cy="5715952"/>
          </a:xfrm>
        </p:spPr>
        <p:txBody>
          <a:bodyPr>
            <a:normAutofit/>
          </a:bodyPr>
          <a:lstStyle/>
          <a:p>
            <a:r>
              <a:rPr lang="en-US" sz="2000" b="1">
                <a:latin typeface="Times New Roman" panose="02020603050405020304" pitchFamily="18" charset="0"/>
                <a:cs typeface="Times New Roman" panose="02020603050405020304" pitchFamily="18" charset="0"/>
              </a:rPr>
              <a:t>Literature Review:</a:t>
            </a:r>
            <a:br>
              <a:rPr lang="en-US" sz="2000">
                <a:latin typeface="Times New Roman" panose="02020603050405020304" pitchFamily="18" charset="0"/>
                <a:cs typeface="Times New Roman" panose="02020603050405020304" pitchFamily="18" charset="0"/>
              </a:rPr>
            </a:br>
            <a:r>
              <a:rPr lang="en-US" sz="2000">
                <a:latin typeface="Times New Roman" panose="02020603050405020304" pitchFamily="18" charset="0"/>
                <a:cs typeface="Times New Roman" panose="02020603050405020304" pitchFamily="18" charset="0"/>
              </a:rPr>
              <a:t>Conduct an in-depth study of existing research on AI ethics, governance frameworks, explainability methods (LIME, SHAP), legal challenges, and AI-driven cybersecurity threats.</a:t>
            </a:r>
          </a:p>
          <a:p>
            <a:r>
              <a:rPr lang="en-US" sz="2000" b="1"/>
              <a:t>Problem Identification:</a:t>
            </a:r>
            <a:br>
              <a:rPr lang="en-US" sz="2000"/>
            </a:br>
            <a:r>
              <a:rPr lang="en-US" sz="2000"/>
              <a:t>Identify key issues such as algorithmic bias, lack of transparency, legal gaps, and rising AI-enabled cyber threats that hinder safe and ethical AI deployment.</a:t>
            </a:r>
          </a:p>
          <a:p>
            <a:r>
              <a:rPr lang="en-US" sz="2000" b="1"/>
              <a:t>Evaluation of Governance Frameworks:</a:t>
            </a:r>
            <a:br>
              <a:rPr lang="en-US" sz="2000"/>
            </a:br>
            <a:r>
              <a:rPr lang="en-US" sz="2000"/>
              <a:t>Analyze international AI governance models (OECD, EU, GDPR) to assess their strengths, limitations, and relevance to modern autonomous AI systems.</a:t>
            </a:r>
          </a:p>
          <a:p>
            <a:r>
              <a:rPr lang="en-US" sz="2000" b="1"/>
              <a:t>Technical Analysis of XAI:</a:t>
            </a:r>
            <a:br>
              <a:rPr lang="en-US" sz="2000"/>
            </a:br>
            <a:r>
              <a:rPr lang="en-US" sz="2000"/>
              <a:t>Examine how Explainable AI tools enhance transparency and accountability, and evaluate their applicability to high-risk AI systems.</a:t>
            </a:r>
          </a:p>
          <a:p>
            <a:r>
              <a:rPr lang="en-US" sz="2000" b="1"/>
              <a:t>Cyber Threat &amp; Defense Assessment:</a:t>
            </a:r>
            <a:br>
              <a:rPr lang="en-US" sz="2000"/>
            </a:br>
            <a:r>
              <a:rPr lang="en-US" sz="2000"/>
              <a:t>Investigate AI-powered attacks (deepfakes, polymorphic malware, APTs) and evaluate ML-based defensive mechanisms such as </a:t>
            </a:r>
            <a:r>
              <a:rPr lang="en-US" sz="2000" err="1"/>
              <a:t>behaviour</a:t>
            </a:r>
            <a:r>
              <a:rPr lang="en-US" sz="2000"/>
              <a:t> analytics and XDR/SIEM.</a:t>
            </a:r>
          </a:p>
          <a:p>
            <a:r>
              <a:rPr lang="en-US" sz="2000" b="1"/>
              <a:t>Gap Identification &amp; Recommendations:</a:t>
            </a:r>
            <a:br>
              <a:rPr lang="en-US" sz="2000"/>
            </a:br>
            <a:r>
              <a:rPr lang="en-US" sz="2000"/>
              <a:t>Compare risks with existing tools/policies to identify gaps and propose an improved, adaptive governance and security framework.</a:t>
            </a:r>
          </a:p>
          <a:p>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2059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18875-D406-12D9-7725-B97B59FEC0F2}"/>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Proposed Work Implementation </a:t>
            </a:r>
          </a:p>
        </p:txBody>
      </p:sp>
      <p:sp>
        <p:nvSpPr>
          <p:cNvPr id="4" name="Rectangle 1">
            <a:extLst>
              <a:ext uri="{FF2B5EF4-FFF2-40B4-BE49-F238E27FC236}">
                <a16:creationId xmlns:a16="http://schemas.microsoft.com/office/drawing/2014/main" id="{15AD2A34-B1B6-1395-02B6-5D554B3D4D05}"/>
              </a:ext>
            </a:extLst>
          </p:cNvPr>
          <p:cNvSpPr>
            <a:spLocks noGrp="1" noChangeArrowheads="1"/>
          </p:cNvSpPr>
          <p:nvPr>
            <p:ph idx="1"/>
          </p:nvPr>
        </p:nvSpPr>
        <p:spPr bwMode="auto">
          <a:xfrm>
            <a:off x="838200" y="2016135"/>
            <a:ext cx="111252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Collect and review research on AI ethics, governance, XAI, and cybersecurity threats.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Identify key issues related to bias, transparency, legal gaps, and AI-driven attacks.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Analyze existing governance models and compare their effectiveness.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Apply XAI methods like LIME and SHAP to improve model transparency.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Study AI-based cyber threats and evaluate modern defense techniques.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Propose an integrated framework combining ethics, legal compliance, explainability, and AI-driven security.</a:t>
            </a:r>
          </a:p>
        </p:txBody>
      </p:sp>
    </p:spTree>
    <p:extLst>
      <p:ext uri="{BB962C8B-B14F-4D97-AF65-F5344CB8AC3E}">
        <p14:creationId xmlns:p14="http://schemas.microsoft.com/office/powerpoint/2010/main" val="398946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41B4D-9179-DB85-7A96-A343019FAB11}"/>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DFD953D2-1204-42CD-BF78-07D8038D36C9}"/>
              </a:ext>
            </a:extLst>
          </p:cNvPr>
          <p:cNvSpPr>
            <a:spLocks noGrp="1"/>
          </p:cNvSpPr>
          <p:nvPr>
            <p:ph idx="1"/>
          </p:nvPr>
        </p:nvSpPr>
        <p:spPr/>
        <p:txBody>
          <a:bodyPr>
            <a:normAutofit fontScale="92500" lnSpcReduction="20000"/>
          </a:bodyPr>
          <a:lstStyle/>
          <a:p>
            <a:r>
              <a:rPr lang="en-US" err="1">
                <a:latin typeface="Times New Roman" panose="02020603050405020304" pitchFamily="18" charset="0"/>
                <a:cs typeface="Times New Roman" panose="02020603050405020304" pitchFamily="18" charset="0"/>
              </a:rPr>
              <a:t>dentified</a:t>
            </a:r>
            <a:r>
              <a:rPr lang="en-US">
                <a:latin typeface="Times New Roman" panose="02020603050405020304" pitchFamily="18" charset="0"/>
                <a:cs typeface="Times New Roman" panose="02020603050405020304" pitchFamily="18" charset="0"/>
              </a:rPr>
              <a:t> major gaps in current AI governance related to ethics, transparency, and accountability.</a:t>
            </a:r>
          </a:p>
          <a:p>
            <a:r>
              <a:rPr lang="en-US">
                <a:latin typeface="Times New Roman" panose="02020603050405020304" pitchFamily="18" charset="0"/>
                <a:cs typeface="Times New Roman" panose="02020603050405020304" pitchFamily="18" charset="0"/>
              </a:rPr>
              <a:t>Found that XAI tools like LIME and SHAP significantly improve model interpretability.</a:t>
            </a:r>
          </a:p>
          <a:p>
            <a:r>
              <a:rPr lang="en-US">
                <a:latin typeface="Times New Roman" panose="02020603050405020304" pitchFamily="18" charset="0"/>
                <a:cs typeface="Times New Roman" panose="02020603050405020304" pitchFamily="18" charset="0"/>
              </a:rPr>
              <a:t>Observed that AI-based cyber threats are more advanced and harder to detect than traditional attacks.</a:t>
            </a:r>
          </a:p>
          <a:p>
            <a:r>
              <a:rPr lang="en-US">
                <a:latin typeface="Times New Roman" panose="02020603050405020304" pitchFamily="18" charset="0"/>
                <a:cs typeface="Times New Roman" panose="02020603050405020304" pitchFamily="18" charset="0"/>
              </a:rPr>
              <a:t>Confirmed that AI-driven defense techniques enhance early detection and automated response.</a:t>
            </a:r>
          </a:p>
          <a:p>
            <a:r>
              <a:rPr lang="en-US">
                <a:latin typeface="Times New Roman" panose="02020603050405020304" pitchFamily="18" charset="0"/>
                <a:cs typeface="Times New Roman" panose="02020603050405020304" pitchFamily="18" charset="0"/>
              </a:rPr>
              <a:t>Noted that federated learning supports secure and privacy-preserving threat intelligence sharing.</a:t>
            </a:r>
          </a:p>
          <a:p>
            <a:r>
              <a:rPr lang="en-US">
                <a:latin typeface="Times New Roman" panose="02020603050405020304" pitchFamily="18" charset="0"/>
                <a:cs typeface="Times New Roman" panose="02020603050405020304" pitchFamily="18" charset="0"/>
              </a:rPr>
              <a:t>Developed an integrated framework that strengthens ethical compliance and cybersecurity readiness.</a:t>
            </a:r>
          </a:p>
          <a:p>
            <a:endParaRPr lang="en-IN"/>
          </a:p>
        </p:txBody>
      </p:sp>
    </p:spTree>
    <p:extLst>
      <p:ext uri="{BB962C8B-B14F-4D97-AF65-F5344CB8AC3E}">
        <p14:creationId xmlns:p14="http://schemas.microsoft.com/office/powerpoint/2010/main" val="2740813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5DF7D-2FC6-CE96-F666-A70A8C6150D4}"/>
              </a:ext>
            </a:extLst>
          </p:cNvPr>
          <p:cNvSpPr>
            <a:spLocks noGrp="1"/>
          </p:cNvSpPr>
          <p:nvPr>
            <p:ph type="title"/>
          </p:nvPr>
        </p:nvSpPr>
        <p:spPr>
          <a:xfrm>
            <a:off x="304800" y="0"/>
            <a:ext cx="10515600" cy="1325563"/>
          </a:xfrm>
        </p:spPr>
        <p:txBody>
          <a:bodyPr/>
          <a:lstStyle/>
          <a:p>
            <a:r>
              <a:rPr lang="en-IN">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C3901B7C-7556-86E3-F93C-0A43D18A24DE}"/>
              </a:ext>
            </a:extLst>
          </p:cNvPr>
          <p:cNvSpPr>
            <a:spLocks noGrp="1"/>
          </p:cNvSpPr>
          <p:nvPr>
            <p:ph idx="1"/>
          </p:nvPr>
        </p:nvSpPr>
        <p:spPr>
          <a:xfrm>
            <a:off x="624840" y="1325563"/>
            <a:ext cx="10728960" cy="4851400"/>
          </a:xfrm>
        </p:spPr>
        <p:txBody>
          <a:bodyPr>
            <a:normAutofit fontScale="85000" lnSpcReduction="10000"/>
          </a:bodyPr>
          <a:lstStyle/>
          <a:p>
            <a:pPr marL="0" indent="0" algn="just">
              <a:buNone/>
            </a:pPr>
            <a:r>
              <a:rPr lang="en-US">
                <a:latin typeface="Times New Roman" panose="02020603050405020304" pitchFamily="18" charset="0"/>
                <a:cs typeface="Times New Roman" panose="02020603050405020304" pitchFamily="18" charset="0"/>
              </a:rPr>
              <a:t>Artificial Intelligence has become a transformative force across sectors, offering major advancements in automation, decision-making, and large-scale data processing; however, this study shows that these benefits are closely accompanied by significant ethical, legal, and cybersecurity challenges. Existing governance frameworks often fail to address the opacity, autonomy, and unpredictability of modern AI systems, leading to concerns such as bias, lack of transparency, weak accountability, and unclear liability when harm occurs. The analysis highlights that Explainable AI tools like LIME and SHAP are essential for improving model interpretability and ensuring responsible use in high-risk environments. In parallel, the rise of AI-driven cyber threats—including deepfakes, polymorphic malware, and automated APTs—demonstrates how attackers now exploit AI for speed, scale, and precision. Defensive mechanisms using machine learning, </a:t>
            </a:r>
            <a:r>
              <a:rPr lang="en-US" err="1">
                <a:latin typeface="Times New Roman" panose="02020603050405020304" pitchFamily="18" charset="0"/>
                <a:cs typeface="Times New Roman" panose="02020603050405020304" pitchFamily="18" charset="0"/>
              </a:rPr>
              <a:t>behavioural</a:t>
            </a:r>
            <a:r>
              <a:rPr lang="en-US">
                <a:latin typeface="Times New Roman" panose="02020603050405020304" pitchFamily="18" charset="0"/>
                <a:cs typeface="Times New Roman" panose="02020603050405020304" pitchFamily="18" charset="0"/>
              </a:rPr>
              <a:t> analytics, and federated intelligence sharing show strong potential to counter these evolving threats. Overall, the study concludes that a unified, adaptive, and ethically grounded governance framework is necessary to ensure AI remains transparent, secure, and trustworthy while enabling continued innovation and societal benefit.</a:t>
            </a:r>
          </a:p>
          <a:p>
            <a:pPr marL="0" indent="0">
              <a:buNone/>
            </a:pPr>
            <a:endParaRPr lang="en-IN"/>
          </a:p>
        </p:txBody>
      </p:sp>
    </p:spTree>
    <p:extLst>
      <p:ext uri="{BB962C8B-B14F-4D97-AF65-F5344CB8AC3E}">
        <p14:creationId xmlns:p14="http://schemas.microsoft.com/office/powerpoint/2010/main" val="2837647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B572A-6070-86EF-6EB6-042F36445CAB}"/>
              </a:ext>
            </a:extLst>
          </p:cNvPr>
          <p:cNvSpPr>
            <a:spLocks noGrp="1"/>
          </p:cNvSpPr>
          <p:nvPr>
            <p:ph type="title"/>
          </p:nvPr>
        </p:nvSpPr>
        <p:spPr>
          <a:xfrm>
            <a:off x="213360" y="-229235"/>
            <a:ext cx="10515600" cy="1325563"/>
          </a:xfrm>
        </p:spPr>
        <p:txBody>
          <a:bodyPr/>
          <a:lstStyle/>
          <a:p>
            <a:r>
              <a:rPr lang="en-IN">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446F4FA9-1619-6524-44EB-E0B8573566BF}"/>
              </a:ext>
            </a:extLst>
          </p:cNvPr>
          <p:cNvSpPr>
            <a:spLocks noGrp="1"/>
          </p:cNvSpPr>
          <p:nvPr>
            <p:ph idx="1"/>
          </p:nvPr>
        </p:nvSpPr>
        <p:spPr>
          <a:xfrm>
            <a:off x="487680" y="944880"/>
            <a:ext cx="10866120" cy="5760720"/>
          </a:xfrm>
        </p:spPr>
        <p:txBody>
          <a:bodyPr>
            <a:normAutofit/>
          </a:bodyPr>
          <a:lstStyle/>
          <a:p>
            <a:r>
              <a:rPr lang="en-US" sz="2400">
                <a:latin typeface="Times New Roman" panose="02020603050405020304" pitchFamily="18" charset="0"/>
                <a:cs typeface="Times New Roman" panose="02020603050405020304" pitchFamily="18" charset="0"/>
              </a:rPr>
              <a:t>Cath, C. (2018). </a:t>
            </a:r>
            <a:r>
              <a:rPr lang="en-US" sz="2400" i="1">
                <a:latin typeface="Times New Roman" panose="02020603050405020304" pitchFamily="18" charset="0"/>
                <a:cs typeface="Times New Roman" panose="02020603050405020304" pitchFamily="18" charset="0"/>
              </a:rPr>
              <a:t>Governing Artificial Intelligence: Ethical, Legal and Technical Opportunities and Challenges</a:t>
            </a:r>
            <a:r>
              <a:rPr lang="en-US" sz="2400">
                <a:latin typeface="Times New Roman" panose="02020603050405020304" pitchFamily="18" charset="0"/>
                <a:cs typeface="Times New Roman" panose="02020603050405020304" pitchFamily="18" charset="0"/>
              </a:rPr>
              <a:t>. Philosophical Transactions of the Royal Society A, 376(20180080).</a:t>
            </a:r>
          </a:p>
          <a:p>
            <a:r>
              <a:rPr lang="en-US" sz="2400">
                <a:latin typeface="Times New Roman" panose="02020603050405020304" pitchFamily="18" charset="0"/>
                <a:cs typeface="Times New Roman" panose="02020603050405020304" pitchFamily="18" charset="0"/>
              </a:rPr>
              <a:t>O’Neil, C. (2016). </a:t>
            </a:r>
            <a:r>
              <a:rPr lang="en-US" sz="2400" i="1">
                <a:latin typeface="Times New Roman" panose="02020603050405020304" pitchFamily="18" charset="0"/>
                <a:cs typeface="Times New Roman" panose="02020603050405020304" pitchFamily="18" charset="0"/>
              </a:rPr>
              <a:t>Weapons of Math Destruction: How Big Data Increases Inequality and Threatens Democracy</a:t>
            </a:r>
            <a:r>
              <a:rPr lang="en-US" sz="2400">
                <a:latin typeface="Times New Roman" panose="02020603050405020304" pitchFamily="18" charset="0"/>
                <a:cs typeface="Times New Roman" panose="02020603050405020304" pitchFamily="18" charset="0"/>
              </a:rPr>
              <a:t>. Crown Publishing.</a:t>
            </a:r>
          </a:p>
          <a:p>
            <a:r>
              <a:rPr lang="en-IN" sz="2400">
                <a:latin typeface="Times New Roman" panose="02020603050405020304" pitchFamily="18" charset="0"/>
                <a:cs typeface="Times New Roman" panose="02020603050405020304" pitchFamily="18" charset="0"/>
              </a:rPr>
              <a:t>European Parliament. (2019). </a:t>
            </a:r>
            <a:r>
              <a:rPr lang="en-IN" sz="2400" i="1">
                <a:latin typeface="Times New Roman" panose="02020603050405020304" pitchFamily="18" charset="0"/>
                <a:cs typeface="Times New Roman" panose="02020603050405020304" pitchFamily="18" charset="0"/>
              </a:rPr>
              <a:t>EU Guidelines on Ethics in Artificial Intelligence: Context and Implementation</a:t>
            </a:r>
            <a:r>
              <a:rPr lang="en-IN" sz="2400">
                <a:latin typeface="Times New Roman" panose="02020603050405020304" pitchFamily="18" charset="0"/>
                <a:cs typeface="Times New Roman" panose="02020603050405020304" pitchFamily="18" charset="0"/>
              </a:rPr>
              <a:t>.</a:t>
            </a:r>
          </a:p>
          <a:p>
            <a:r>
              <a:rPr lang="it-IT" sz="2400">
                <a:latin typeface="Times New Roman" panose="02020603050405020304" pitchFamily="18" charset="0"/>
                <a:cs typeface="Times New Roman" panose="02020603050405020304" pitchFamily="18" charset="0"/>
              </a:rPr>
              <a:t>Vutukuri, K. (2025). </a:t>
            </a:r>
            <a:r>
              <a:rPr lang="it-IT" sz="2400" i="1">
                <a:latin typeface="Times New Roman" panose="02020603050405020304" pitchFamily="18" charset="0"/>
                <a:cs typeface="Times New Roman" panose="02020603050405020304" pitchFamily="18" charset="0"/>
              </a:rPr>
              <a:t>Model Interpretability in AI: SHAP and LIME</a:t>
            </a:r>
            <a:r>
              <a:rPr lang="it-IT" sz="2400">
                <a:latin typeface="Times New Roman" panose="02020603050405020304" pitchFamily="18" charset="0"/>
                <a:cs typeface="Times New Roman" panose="02020603050405020304" pitchFamily="18" charset="0"/>
              </a:rPr>
              <a:t>. Medium.</a:t>
            </a:r>
          </a:p>
          <a:p>
            <a:r>
              <a:rPr lang="en-US" sz="2400" err="1">
                <a:latin typeface="Times New Roman" panose="02020603050405020304" pitchFamily="18" charset="0"/>
                <a:cs typeface="Times New Roman" panose="02020603050405020304" pitchFamily="18" charset="0"/>
              </a:rPr>
              <a:t>Shamiulla</a:t>
            </a:r>
            <a:r>
              <a:rPr lang="en-US" sz="2400">
                <a:latin typeface="Times New Roman" panose="02020603050405020304" pitchFamily="18" charset="0"/>
                <a:cs typeface="Times New Roman" panose="02020603050405020304" pitchFamily="18" charset="0"/>
              </a:rPr>
              <a:t>, A. M. (2019). </a:t>
            </a:r>
            <a:r>
              <a:rPr lang="en-US" sz="2400" i="1">
                <a:latin typeface="Times New Roman" panose="02020603050405020304" pitchFamily="18" charset="0"/>
                <a:cs typeface="Times New Roman" panose="02020603050405020304" pitchFamily="18" charset="0"/>
              </a:rPr>
              <a:t>Role of Artificial Intelligence in Cyber Security</a:t>
            </a:r>
            <a:r>
              <a:rPr lang="en-US" sz="2400">
                <a:latin typeface="Times New Roman" panose="02020603050405020304" pitchFamily="18" charset="0"/>
                <a:cs typeface="Times New Roman" panose="02020603050405020304" pitchFamily="18" charset="0"/>
              </a:rPr>
              <a:t>. IJITEE, 9(1), 2384–2415.</a:t>
            </a:r>
          </a:p>
          <a:p>
            <a:r>
              <a:rPr lang="en-US" sz="2400">
                <a:latin typeface="Times New Roman" panose="02020603050405020304" pitchFamily="18" charset="0"/>
                <a:cs typeface="Times New Roman" panose="02020603050405020304" pitchFamily="18" charset="0"/>
              </a:rPr>
              <a:t>Arif, A., Khan, M. I., &amp; Khan, A. R. A. (2024). </a:t>
            </a:r>
            <a:r>
              <a:rPr lang="en-US" sz="2400" i="1">
                <a:latin typeface="Times New Roman" panose="02020603050405020304" pitchFamily="18" charset="0"/>
                <a:cs typeface="Times New Roman" panose="02020603050405020304" pitchFamily="18" charset="0"/>
              </a:rPr>
              <a:t>An Overview of Cyber Threats Generated by AI</a:t>
            </a:r>
            <a:r>
              <a:rPr lang="en-US" sz="2400">
                <a:latin typeface="Times New Roman" panose="02020603050405020304" pitchFamily="18" charset="0"/>
                <a:cs typeface="Times New Roman" panose="02020603050405020304" pitchFamily="18" charset="0"/>
              </a:rPr>
              <a:t>. International Journal of Multidisciplinary Science &amp; Arts, 3(4).</a:t>
            </a:r>
          </a:p>
          <a:p>
            <a:r>
              <a:rPr lang="en-US" sz="2400">
                <a:latin typeface="Times New Roman" panose="02020603050405020304" pitchFamily="18" charset="0"/>
                <a:cs typeface="Times New Roman" panose="02020603050405020304" pitchFamily="18" charset="0"/>
              </a:rPr>
              <a:t>USC IP. (2025). </a:t>
            </a:r>
            <a:r>
              <a:rPr lang="en-US" sz="2400" i="1">
                <a:latin typeface="Times New Roman" panose="02020603050405020304" pitchFamily="18" charset="0"/>
                <a:cs typeface="Times New Roman" panose="02020603050405020304" pitchFamily="18" charset="0"/>
              </a:rPr>
              <a:t>AI, Copyright, and the Law: The Ongoing Battle Over Intellectual Property Rights</a:t>
            </a:r>
            <a:r>
              <a:rPr lang="en-US" sz="2400">
                <a:latin typeface="Times New Roman" panose="02020603050405020304" pitchFamily="18" charset="0"/>
                <a:cs typeface="Times New Roman" panose="02020603050405020304" pitchFamily="18" charset="0"/>
              </a:rPr>
              <a:t>.</a:t>
            </a:r>
          </a:p>
          <a:p>
            <a:endParaRPr lang="en-IN" sz="2400"/>
          </a:p>
        </p:txBody>
      </p:sp>
    </p:spTree>
    <p:extLst>
      <p:ext uri="{BB962C8B-B14F-4D97-AF65-F5344CB8AC3E}">
        <p14:creationId xmlns:p14="http://schemas.microsoft.com/office/powerpoint/2010/main" val="3210172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1179</Words>
  <Application>Microsoft Office PowerPoint</Application>
  <PresentationFormat>Widescreen</PresentationFormat>
  <Paragraphs>46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New Roman</vt:lpstr>
      <vt:lpstr>Office Theme</vt:lpstr>
      <vt:lpstr>Abstract</vt:lpstr>
      <vt:lpstr>Introduction </vt:lpstr>
      <vt:lpstr>Problem Statement</vt:lpstr>
      <vt:lpstr>Literature Survey</vt:lpstr>
      <vt:lpstr>Objectives</vt:lpstr>
      <vt:lpstr>Proposed Methodology</vt:lpstr>
      <vt:lpstr>Proposed Work Implementation </vt:lpstr>
      <vt:lpstr>Results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Akshata Tatti</dc:creator>
  <cp:lastModifiedBy>Akshata Tatti</cp:lastModifiedBy>
  <cp:revision>1</cp:revision>
  <dcterms:created xsi:type="dcterms:W3CDTF">2025-11-20T13:24:06Z</dcterms:created>
  <dcterms:modified xsi:type="dcterms:W3CDTF">2025-11-22T11:53:25Z</dcterms:modified>
</cp:coreProperties>
</file>